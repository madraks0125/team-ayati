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5" r:id="rId6"/>
    <p:sldId id="261" r:id="rId7"/>
    <p:sldId id="267" r:id="rId8"/>
    <p:sldId id="262" r:id="rId9"/>
    <p:sldId id="268" r:id="rId10"/>
  </p:sldIdLst>
  <p:sldSz cx="18288000" cy="10287000"/>
  <p:notesSz cx="6858000" cy="9144000"/>
  <p:embeddedFontLst>
    <p:embeddedFont>
      <p:font typeface="Inter" panose="020B0604020202020204" charset="0"/>
      <p:bold r:id="rId12"/>
      <p:bold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>
      <p:cViewPr>
        <p:scale>
          <a:sx n="75" d="100"/>
          <a:sy n="75" d="100"/>
        </p:scale>
        <p:origin x="456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219" b="-224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7208" b="-27208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5039243" y="390525"/>
            <a:ext cx="9087367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TEAM INTRODUCTION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575450" y="5575105"/>
            <a:ext cx="151638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>
                <a:solidFill>
                  <a:schemeClr val="dk1"/>
                </a:solidFill>
              </a:rPr>
              <a:t>   </a:t>
            </a:r>
            <a:endParaRPr sz="2700" dirty="0"/>
          </a:p>
        </p:txBody>
      </p:sp>
      <p:grpSp>
        <p:nvGrpSpPr>
          <p:cNvPr id="88" name="Google Shape;88;p1"/>
          <p:cNvGrpSpPr/>
          <p:nvPr/>
        </p:nvGrpSpPr>
        <p:grpSpPr>
          <a:xfrm>
            <a:off x="-152" y="9438951"/>
            <a:ext cx="18288306" cy="848046"/>
            <a:chOff x="1933472" y="-241251"/>
            <a:chExt cx="25467631" cy="1067530"/>
          </a:xfrm>
        </p:grpSpPr>
        <p:sp>
          <p:nvSpPr>
            <p:cNvPr id="89" name="Google Shape;89;p1"/>
            <p:cNvSpPr/>
            <p:nvPr/>
          </p:nvSpPr>
          <p:spPr>
            <a:xfrm>
              <a:off x="1933472" y="-241251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2638182" y="111622"/>
              <a:ext cx="24620700" cy="43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35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  <a:endParaRPr sz="1280" dirty="0"/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1937385" y="3343275"/>
            <a:ext cx="14412595" cy="525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TechnoCognition</a:t>
            </a:r>
            <a:r>
              <a:rPr lang="en-US" sz="4400" b="1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‘25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Startup, Innovation &amp; Incubation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400" b="1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Presented by</a:t>
            </a:r>
            <a:r>
              <a:rPr lang="en-US" sz="36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: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TEAM AYATI</a:t>
            </a:r>
            <a:r>
              <a:rPr lang="en-US" sz="36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</a:t>
            </a:r>
            <a:endParaRPr lang="en-US" sz="3600" b="1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Jain (Deemed-to-be University)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8" b="16480"/>
          <a:stretch/>
        </p:blipFill>
        <p:spPr>
          <a:xfrm>
            <a:off x="13154152" y="5583888"/>
            <a:ext cx="4786185" cy="30924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88031" y="1791256"/>
            <a:ext cx="7265119" cy="72651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219" b="-224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7208" b="-27208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4707900" y="506750"/>
            <a:ext cx="8872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PROBLEM STATEMENT</a:t>
            </a:r>
          </a:p>
        </p:txBody>
      </p:sp>
      <p:sp>
        <p:nvSpPr>
          <p:cNvPr id="99" name="Google Shape;99;p2"/>
          <p:cNvSpPr txBox="1"/>
          <p:nvPr/>
        </p:nvSpPr>
        <p:spPr>
          <a:xfrm>
            <a:off x="1619674" y="9740234"/>
            <a:ext cx="15639626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@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Electroblitz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Club-Department of Electronics and Communication- Dayananda 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Sagar</a:t>
            </a:r>
            <a:r>
              <a:rPr lang="en-US" sz="2300" b="0" i="0" u="none" strike="noStrike" cap="none" dirty="0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University </a:t>
            </a:r>
          </a:p>
        </p:txBody>
      </p:sp>
      <p:grpSp>
        <p:nvGrpSpPr>
          <p:cNvPr id="100" name="Google Shape;100;p2"/>
          <p:cNvGrpSpPr/>
          <p:nvPr/>
        </p:nvGrpSpPr>
        <p:grpSpPr>
          <a:xfrm>
            <a:off x="-150" y="9477999"/>
            <a:ext cx="18288306" cy="848046"/>
            <a:chOff x="0" y="0"/>
            <a:chExt cx="25467631" cy="1067530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2701381" y="354383"/>
              <a:ext cx="208527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45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  <a:endParaRPr sz="1365" dirty="0"/>
            </a:p>
          </p:txBody>
        </p:sp>
      </p:grpSp>
      <p:sp>
        <p:nvSpPr>
          <p:cNvPr id="103" name="Google Shape;103;p2"/>
          <p:cNvSpPr txBox="1"/>
          <p:nvPr/>
        </p:nvSpPr>
        <p:spPr>
          <a:xfrm>
            <a:off x="143546" y="1758950"/>
            <a:ext cx="18000910" cy="732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GB" sz="3200" b="1" i="0" u="sng" strike="noStrike" cap="none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charset="0"/>
                <a:sym typeface="Inter" panose="02000503000000020004"/>
              </a:rPr>
              <a:t>THE FALSE POSITIVE PARADO</a:t>
            </a:r>
            <a:r>
              <a:rPr lang="en-US" altLang="en-GB" sz="3200" b="1" i="0" u="sng" strike="noStrike" cap="none" dirty="0" smtClean="0">
                <a:solidFill>
                  <a:srgbClr val="00186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X</a:t>
            </a:r>
            <a:endParaRPr lang="en-US" altLang="en-GB" sz="3200" b="1" i="0" u="sng" strike="noStrike" cap="none" dirty="0" smtClean="0">
              <a:solidFill>
                <a:srgbClr val="00186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 panose="02000503000000020004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GB" sz="3200" b="1" i="0" strike="noStrike" cap="none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charset="0"/>
                <a:sym typeface="Inter" panose="02000503000000020004"/>
              </a:rPr>
              <a:t> </a:t>
            </a:r>
            <a:r>
              <a:rPr lang="en-US" altLang="en-GB" sz="3200" b="1" i="0" strike="noStrike" cap="none" dirty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charset="0"/>
                <a:sym typeface="Inter" panose="02000503000000020004"/>
              </a:rPr>
              <a:t>Why </a:t>
            </a:r>
            <a:r>
              <a:rPr lang="en-US" altLang="en-GB" sz="3200" b="1" i="0" strike="noStrike" cap="none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charset="0"/>
                <a:sym typeface="Inter" panose="02000503000000020004"/>
              </a:rPr>
              <a:t>Existing C-UAS </a:t>
            </a:r>
            <a:r>
              <a:rPr lang="en-US" altLang="en-GB" sz="3200" b="1" i="0" strike="noStrike" cap="none" dirty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charset="0"/>
                <a:sym typeface="Inter" panose="02000503000000020004"/>
              </a:rPr>
              <a:t>Solutions </a:t>
            </a:r>
            <a:r>
              <a:rPr lang="en-US" altLang="en-GB" sz="3200" b="1" i="0" strike="noStrike" cap="none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charset="0"/>
                <a:sym typeface="Inter" panose="02000503000000020004"/>
              </a:rPr>
              <a:t>Fail to Distinguish the threats</a:t>
            </a:r>
            <a:endParaRPr lang="en-US" altLang="en-GB" sz="3200" b="1" i="0" strike="noStrike" cap="none" dirty="0">
              <a:solidFill>
                <a:srgbClr val="001864"/>
              </a:solidFill>
              <a:latin typeface="Inter" panose="020B0604020202020204" charset="0"/>
              <a:ea typeface="Inter" panose="020B0604020202020204" charset="0"/>
              <a:cs typeface="Times New Roman" panose="02020603050405020304" charset="0"/>
              <a:sym typeface="Inter" panose="020005030000000200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GB" sz="24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342900" lvl="0" indent="-3429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2800" b="1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LIMITATION</a:t>
            </a:r>
            <a:r>
              <a:rPr lang="en-US" altLang="en-GB" sz="2800" b="1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: </a:t>
            </a:r>
            <a:r>
              <a:rPr lang="en-US" altLang="en-GB" sz="28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Single-sensor </a:t>
            </a:r>
            <a:r>
              <a:rPr lang="en-US" altLang="en-GB" sz="28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C-UAS (Counter-Unmanned Aircraft Systems) </a:t>
            </a:r>
            <a:r>
              <a:rPr lang="en-US" altLang="en-GB" sz="28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fail </a:t>
            </a:r>
            <a:r>
              <a:rPr lang="en-US" altLang="en-GB" sz="28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to distinguish between actual threats and background noise.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GB" sz="28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342900" marR="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8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EXISTING SYSTEMS OVERVIEW:</a:t>
            </a:r>
            <a:r>
              <a:rPr lang="en-US" altLang="en-GB" sz="28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</a:t>
            </a:r>
            <a:r>
              <a:rPr lang="en-US" altLang="en-GB" sz="28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Standard wireless Counter-UAS (C-UAS) solutions are operationally </a:t>
            </a:r>
            <a:r>
              <a:rPr lang="en-US" altLang="en-GB" sz="28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unsuitable:</a:t>
            </a:r>
            <a:endParaRPr lang="en-US" altLang="en-GB" sz="28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800100" marR="0" lvl="1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8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Failure </a:t>
            </a:r>
            <a:r>
              <a:rPr lang="en-US" altLang="en-GB" sz="28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in high-EMI environments (e.g., substations, power lines, machinery).</a:t>
            </a:r>
          </a:p>
          <a:p>
            <a:pPr marL="800100" marR="0" lvl="1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8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Unreliability </a:t>
            </a:r>
            <a:r>
              <a:rPr lang="en-US" altLang="en-GB" sz="28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in "RF-crowded" urban/airport zones.</a:t>
            </a:r>
          </a:p>
          <a:p>
            <a:pPr marL="800100" marR="0" lvl="1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8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Vulnerability to </a:t>
            </a:r>
            <a:r>
              <a:rPr lang="en-US" altLang="en-GB" sz="28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jamming and spoofing.</a:t>
            </a:r>
          </a:p>
          <a:p>
            <a:pPr marL="457200" marR="0" lvl="1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GB" sz="28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342900" marR="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800" b="1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The Result: </a:t>
            </a:r>
            <a:r>
              <a:rPr lang="en-US" altLang="en-GB" sz="28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The very critical infrastructure that needs </a:t>
            </a:r>
            <a:r>
              <a:rPr lang="en-US" altLang="en-GB" sz="28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authenticity </a:t>
            </a:r>
            <a:r>
              <a:rPr lang="en-US" altLang="en-GB" sz="28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cannot be reliably </a:t>
            </a:r>
            <a:r>
              <a:rPr lang="en-US" altLang="en-GB" sz="28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produce authentic results.</a:t>
            </a:r>
            <a:endParaRPr lang="en-US" altLang="en-GB" sz="28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219" b="-224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7208" b="-27208"/>
            </a:stretch>
          </a:blipFill>
          <a:ln>
            <a:noFill/>
          </a:ln>
        </p:spPr>
      </p:sp>
      <p:sp>
        <p:nvSpPr>
          <p:cNvPr id="110" name="Google Shape;110;p3"/>
          <p:cNvSpPr txBox="1"/>
          <p:nvPr/>
        </p:nvSpPr>
        <p:spPr>
          <a:xfrm>
            <a:off x="4911900" y="384125"/>
            <a:ext cx="8464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SOLUTION OVERVIEW</a:t>
            </a:r>
          </a:p>
        </p:txBody>
      </p:sp>
      <p:grpSp>
        <p:nvGrpSpPr>
          <p:cNvPr id="111" name="Google Shape;111;p3"/>
          <p:cNvGrpSpPr/>
          <p:nvPr/>
        </p:nvGrpSpPr>
        <p:grpSpPr>
          <a:xfrm>
            <a:off x="0" y="9486350"/>
            <a:ext cx="18288306" cy="800648"/>
            <a:chOff x="0" y="0"/>
            <a:chExt cx="25467631" cy="1067530"/>
          </a:xfrm>
        </p:grpSpPr>
        <p:sp>
          <p:nvSpPr>
            <p:cNvPr id="112" name="Google Shape;112;p3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</p:sp>
        <p:sp>
          <p:nvSpPr>
            <p:cNvPr id="113" name="Google Shape;113;p3"/>
            <p:cNvSpPr txBox="1"/>
            <p:nvPr/>
          </p:nvSpPr>
          <p:spPr>
            <a:xfrm>
              <a:off x="2701381" y="354383"/>
              <a:ext cx="208527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</a:p>
          </p:txBody>
        </p:sp>
      </p:grpSp>
      <p:sp>
        <p:nvSpPr>
          <p:cNvPr id="114" name="Google Shape;114;p3"/>
          <p:cNvSpPr txBox="1"/>
          <p:nvPr/>
        </p:nvSpPr>
        <p:spPr>
          <a:xfrm>
            <a:off x="373489" y="1687195"/>
            <a:ext cx="17541024" cy="827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200" b="1" i="0" u="sng" strike="noStrike" cap="none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THE </a:t>
            </a:r>
            <a:r>
              <a:rPr lang="en-US" altLang="en-GB" sz="3200" b="1" i="0" u="sng" strike="noStrike" cap="none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MULTI-MODAL FUSION ENGINE:</a:t>
            </a:r>
            <a:endParaRPr lang="en-US" altLang="en-GB" sz="3200" b="1" i="0" u="sng" strike="noStrike" cap="none" dirty="0" smtClean="0">
              <a:solidFill>
                <a:srgbClr val="001864"/>
              </a:solidFill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  <a:sym typeface="Inter" panose="02000503000000020004"/>
            </a:endParaRPr>
          </a:p>
          <a:p>
            <a:pPr lvl="0" algn="ctr">
              <a:lnSpc>
                <a:spcPct val="140000"/>
              </a:lnSpc>
            </a:pPr>
            <a:r>
              <a:rPr lang="en-US" altLang="en-GB" sz="3200" b="1" dirty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 </a:t>
            </a:r>
            <a:r>
              <a:rPr lang="en-US" altLang="en-GB" sz="3200" b="1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Combined </a:t>
            </a:r>
            <a:r>
              <a:rPr lang="en-US" altLang="en-GB" sz="3200" b="1" dirty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Volumetric, </a:t>
            </a:r>
            <a:r>
              <a:rPr lang="en-US" altLang="en-GB" sz="3200" b="1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Acoustic</a:t>
            </a:r>
            <a:r>
              <a:rPr lang="en-US" altLang="en-GB" sz="3200" b="1" dirty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,</a:t>
            </a:r>
            <a:r>
              <a:rPr lang="en-US" altLang="en-GB" sz="3200" b="1" dirty="0" smtClean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 Radar &amp; </a:t>
            </a:r>
            <a:r>
              <a:rPr lang="en-US" altLang="en-GB" sz="3200" b="1" dirty="0">
                <a:solidFill>
                  <a:srgbClr val="001864"/>
                </a:solidFill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  <a:sym typeface="Inter" panose="02000503000000020004"/>
              </a:rPr>
              <a:t>Vibration data.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pitchFamily="18" charset="0"/>
              <a:ea typeface="Inter" panose="02000503000000020004"/>
              <a:cs typeface="Times New Roman" panose="02020603050405020304" pitchFamily="18" charset="0"/>
              <a:sym typeface="Inter" panose="02000503000000020004"/>
            </a:endParaRP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CORE INNOVATION: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 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Fusing diverse sensor data provides exponentially higher 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certainty than a 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single 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sensor.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MULTI-MODAL </a:t>
            </a: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NODES: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 Modular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Edge Nodes (using 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Arduino &amp; ESP32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)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perform multi-modal sensor fusion (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RF,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Acoustic, Radar, Vision).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KEY ADVANTAGE: 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Enabling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secure, high-bandwidth streaming of raw sensor data for superior, high-fidelity fusion at a 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Central Command Center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.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FUTURE-PROOFING: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 This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architecture 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provides the 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a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viable defense against the emerging threat of 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"UNJAMMABLE"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pitchFamily="18" charset="0"/>
                <a:ea typeface="Inter" panose="02000503000000020004"/>
                <a:cs typeface="Times New Roman" panose="02020603050405020304" pitchFamily="18" charset="0"/>
                <a:sym typeface="Inter" panose="02000503000000020004"/>
              </a:rPr>
              <a:t>zero-RF-signature fiber-tethered drones</a:t>
            </a:r>
          </a:p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219" b="-224"/>
            </a:stretch>
          </a:blipFill>
          <a:ln>
            <a:noFill/>
          </a:ln>
        </p:spPr>
      </p:sp>
      <p:sp>
        <p:nvSpPr>
          <p:cNvPr id="131" name="Google Shape;131;p5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7208" b="-27208"/>
            </a:stretch>
          </a:blipFill>
          <a:ln>
            <a:noFill/>
          </a:ln>
        </p:spPr>
      </p:sp>
      <p:sp>
        <p:nvSpPr>
          <p:cNvPr id="133" name="Google Shape;133;p5"/>
          <p:cNvSpPr txBox="1"/>
          <p:nvPr/>
        </p:nvSpPr>
        <p:spPr>
          <a:xfrm>
            <a:off x="726100" y="2499830"/>
            <a:ext cx="16835800" cy="482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3200" b="1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457200" marR="0" lvl="0" indent="-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TRIGGER EVENT: 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E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nab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les low 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power 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radar to wake up the system 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[saving 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energy].</a:t>
            </a:r>
            <a:endParaRPr lang="en-US" altLang="en-GB" sz="3200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THE FUSION LOGIC: 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Once awake, ESP32 runs its equation for volumetric, acoustic and Radar validation</a:t>
            </a: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457200" lvl="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b="1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ACTUATION: </a:t>
            </a:r>
            <a:r>
              <a:rPr lang="en-US" altLang="en-GB" sz="3200" b="1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If TRUE: 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ESP32 sends command to “ FIRE_NET ”. And Arduino triggers 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the Single Channel Relay for immediate capture </a:t>
            </a:r>
          </a:p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212" y="9486350"/>
            <a:ext cx="18287580" cy="800648"/>
            <a:chOff x="0" y="0"/>
            <a:chExt cx="24894609" cy="1067530"/>
          </a:xfrm>
        </p:grpSpPr>
        <p:sp>
          <p:nvSpPr>
            <p:cNvPr id="135" name="Google Shape;135;p5"/>
            <p:cNvSpPr/>
            <p:nvPr/>
          </p:nvSpPr>
          <p:spPr>
            <a:xfrm>
              <a:off x="0" y="0"/>
              <a:ext cx="24894609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</p:sp>
        <p:sp>
          <p:nvSpPr>
            <p:cNvPr id="136" name="Google Shape;136;p5"/>
            <p:cNvSpPr txBox="1"/>
            <p:nvPr/>
          </p:nvSpPr>
          <p:spPr>
            <a:xfrm>
              <a:off x="2701381" y="354383"/>
              <a:ext cx="208527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</a:p>
          </p:txBody>
        </p:sp>
      </p:grpSp>
      <p:sp>
        <p:nvSpPr>
          <p:cNvPr id="121" name="Google Shape;121;p4"/>
          <p:cNvSpPr txBox="1"/>
          <p:nvPr/>
        </p:nvSpPr>
        <p:spPr>
          <a:xfrm>
            <a:off x="3056328" y="389082"/>
            <a:ext cx="12175345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IMPLEMENTATION/PROTOTYPE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8" b="16480"/>
          <a:stretch/>
        </p:blipFill>
        <p:spPr>
          <a:xfrm>
            <a:off x="13149943" y="1831479"/>
            <a:ext cx="2715074" cy="1754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219" b="-224"/>
            </a:stretch>
          </a:blipFill>
          <a:ln>
            <a:noFill/>
          </a:ln>
        </p:spPr>
      </p:sp>
      <p:sp>
        <p:nvSpPr>
          <p:cNvPr id="131" name="Google Shape;131;p5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7208" b="-27208"/>
            </a:stretch>
          </a:blipFill>
          <a:ln>
            <a:noFill/>
          </a:ln>
        </p:spPr>
      </p:sp>
      <p:sp>
        <p:nvSpPr>
          <p:cNvPr id="132" name="Google Shape;132;p5"/>
          <p:cNvSpPr txBox="1"/>
          <p:nvPr/>
        </p:nvSpPr>
        <p:spPr>
          <a:xfrm>
            <a:off x="4946421" y="480853"/>
            <a:ext cx="8395159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TECHNOLOGY STACK </a:t>
            </a:r>
          </a:p>
        </p:txBody>
      </p:sp>
      <p:sp>
        <p:nvSpPr>
          <p:cNvPr id="133" name="Google Shape;133;p5"/>
          <p:cNvSpPr txBox="1"/>
          <p:nvPr/>
        </p:nvSpPr>
        <p:spPr>
          <a:xfrm>
            <a:off x="989576" y="2745544"/>
            <a:ext cx="15266670" cy="620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1. HARDWARE:</a:t>
            </a:r>
            <a:endParaRPr lang="en-US" altLang="en-GB" sz="3200" b="1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457200" lvl="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ACTUATOR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: Arduino UNO</a:t>
            </a:r>
          </a:p>
          <a:p>
            <a:pPr marL="457200" lvl="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FUSION: ESP32.</a:t>
            </a: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Sensors: MEMS Mic (INMP441),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mmWave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Radar 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(RCWL-0516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).</a:t>
            </a:r>
          </a:p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Redundancy: RCWL 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mmWAVE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RADAR.</a:t>
            </a: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2. SOFTWARE (EDGE):</a:t>
            </a:r>
            <a:endParaRPr lang="en-US" altLang="en-GB" sz="3200" b="1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457200" lvl="0" indent="-4572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C/C++ 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(Arduino 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IdE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).</a:t>
            </a: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212" y="9486350"/>
            <a:ext cx="18287580" cy="800648"/>
            <a:chOff x="0" y="0"/>
            <a:chExt cx="24894609" cy="1067530"/>
          </a:xfrm>
        </p:grpSpPr>
        <p:sp>
          <p:nvSpPr>
            <p:cNvPr id="135" name="Google Shape;135;p5"/>
            <p:cNvSpPr/>
            <p:nvPr/>
          </p:nvSpPr>
          <p:spPr>
            <a:xfrm>
              <a:off x="0" y="0"/>
              <a:ext cx="24894609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</p:sp>
        <p:sp>
          <p:nvSpPr>
            <p:cNvPr id="136" name="Google Shape;136;p5"/>
            <p:cNvSpPr txBox="1"/>
            <p:nvPr/>
          </p:nvSpPr>
          <p:spPr>
            <a:xfrm>
              <a:off x="2701381" y="354383"/>
              <a:ext cx="208527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</a:p>
          </p:txBody>
        </p:sp>
      </p:grpSp>
      <p:sp>
        <p:nvSpPr>
          <p:cNvPr id="137" name="Google Shape;137;p5"/>
          <p:cNvSpPr txBox="1"/>
          <p:nvPr/>
        </p:nvSpPr>
        <p:spPr>
          <a:xfrm>
            <a:off x="9687825" y="2499900"/>
            <a:ext cx="800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1" t="28207" r="16719" b="25592"/>
          <a:stretch/>
        </p:blipFill>
        <p:spPr>
          <a:xfrm rot="5400000">
            <a:off x="12062279" y="2702995"/>
            <a:ext cx="7342414" cy="51090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9400" y="981431"/>
            <a:ext cx="3777749" cy="3777749"/>
          </a:xfrm>
          <a:prstGeom prst="rect">
            <a:avLst/>
          </a:prstGeom>
        </p:spPr>
      </p:pic>
      <p:sp>
        <p:nvSpPr>
          <p:cNvPr id="142" name="Google Shape;142;p6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19" b="-224"/>
            </a:stretch>
          </a:blipFill>
          <a:ln>
            <a:noFill/>
          </a:ln>
        </p:spPr>
      </p:sp>
      <p:sp>
        <p:nvSpPr>
          <p:cNvPr id="143" name="Google Shape;143;p6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t="-27208" b="-27208"/>
            </a:stretch>
          </a:blipFill>
          <a:ln>
            <a:noFill/>
          </a:ln>
        </p:spPr>
      </p:sp>
      <p:sp>
        <p:nvSpPr>
          <p:cNvPr id="144" name="Google Shape;144;p6"/>
          <p:cNvSpPr txBox="1"/>
          <p:nvPr/>
        </p:nvSpPr>
        <p:spPr>
          <a:xfrm>
            <a:off x="4857036" y="390525"/>
            <a:ext cx="9164901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IMPACT &amp; SCALABILITY</a:t>
            </a:r>
          </a:p>
        </p:txBody>
      </p:sp>
      <p:sp>
        <p:nvSpPr>
          <p:cNvPr id="145" name="Google Shape;145;p6"/>
          <p:cNvSpPr txBox="1"/>
          <p:nvPr/>
        </p:nvSpPr>
        <p:spPr>
          <a:xfrm>
            <a:off x="1648057" y="1949450"/>
            <a:ext cx="14397355" cy="560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600" b="0" i="0" u="sng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Market Impact &amp; Scalability</a:t>
            </a:r>
          </a:p>
          <a:p>
            <a:pPr marL="571500" marR="0" lvl="0" indent="-571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OPERATIONAL IMPACT (THE DIFFERENTIATOR):</a:t>
            </a:r>
          </a:p>
          <a:p>
            <a:pPr marL="1028700" lvl="1" indent="-5715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Solves the industry-wide issue of reliability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.</a:t>
            </a:r>
          </a:p>
          <a:p>
            <a:pPr marL="1028700" lvl="1" indent="-5715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99.9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% data integrity vs. wireless packet loss.</a:t>
            </a:r>
          </a:p>
          <a:p>
            <a:pPr marL="1028700" lvl="1" indent="-5715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Ensures the system only engages for valid threats, saving power and resources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.</a:t>
            </a:r>
          </a:p>
          <a:p>
            <a:pPr marL="1028700" lvl="1" indent="-5715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Legally-Compliant</a:t>
            </a: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: Provides high-assurance data without illegal RF jamming</a:t>
            </a:r>
            <a:r>
              <a:rPr lang="en-US" altLang="en-GB" sz="32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.</a:t>
            </a:r>
          </a:p>
          <a:p>
            <a:pPr marL="1028700" lvl="1" indent="-5715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GB" sz="3200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Allows for seamless transition from Wireless (ESP-NOW) to Fiber (TCP/IP) in the future without rewriting the core fusion logic.</a:t>
            </a:r>
            <a:endParaRPr lang="en-US" altLang="en-GB" sz="32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</p:txBody>
      </p:sp>
      <p:grpSp>
        <p:nvGrpSpPr>
          <p:cNvPr id="146" name="Google Shape;146;p6"/>
          <p:cNvGrpSpPr/>
          <p:nvPr/>
        </p:nvGrpSpPr>
        <p:grpSpPr>
          <a:xfrm>
            <a:off x="0" y="9486350"/>
            <a:ext cx="18288306" cy="800648"/>
            <a:chOff x="0" y="0"/>
            <a:chExt cx="25467631" cy="1067530"/>
          </a:xfrm>
        </p:grpSpPr>
        <p:sp>
          <p:nvSpPr>
            <p:cNvPr id="147" name="Google Shape;147;p6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</p:sp>
        <p:sp>
          <p:nvSpPr>
            <p:cNvPr id="148" name="Google Shape;148;p6"/>
            <p:cNvSpPr txBox="1"/>
            <p:nvPr/>
          </p:nvSpPr>
          <p:spPr>
            <a:xfrm>
              <a:off x="2701381" y="354383"/>
              <a:ext cx="208527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219" b="-224"/>
            </a:stretch>
          </a:blipFill>
          <a:ln>
            <a:noFill/>
          </a:ln>
        </p:spPr>
      </p:sp>
      <p:sp>
        <p:nvSpPr>
          <p:cNvPr id="143" name="Google Shape;143;p6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7208" b="-27208"/>
            </a:stretch>
          </a:blipFill>
          <a:ln>
            <a:noFill/>
          </a:ln>
        </p:spPr>
      </p:sp>
      <p:sp>
        <p:nvSpPr>
          <p:cNvPr id="144" name="Google Shape;144;p6"/>
          <p:cNvSpPr txBox="1"/>
          <p:nvPr/>
        </p:nvSpPr>
        <p:spPr>
          <a:xfrm>
            <a:off x="4857036" y="390525"/>
            <a:ext cx="9164901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IMPACT &amp; SCALABILITY</a:t>
            </a:r>
          </a:p>
        </p:txBody>
      </p:sp>
      <p:sp>
        <p:nvSpPr>
          <p:cNvPr id="145" name="Google Shape;145;p6"/>
          <p:cNvSpPr txBox="1"/>
          <p:nvPr/>
        </p:nvSpPr>
        <p:spPr>
          <a:xfrm>
            <a:off x="400322" y="2456742"/>
            <a:ext cx="14397355" cy="560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600" b="0" i="0" u="sng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Market Impact &amp; Scalability</a:t>
            </a:r>
          </a:p>
          <a:p>
            <a:pPr marL="742950" marR="0" lvl="0" indent="-742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BUSINESS IMPACT (THE MARKET OPPORTUNITY):</a:t>
            </a:r>
          </a:p>
          <a:p>
            <a:pPr marR="0"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en-US" altLang="en-GB" sz="3200" b="1" i="0" u="none" strike="noStrike" cap="none" dirty="0" smtClean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1028700" marR="0" lvl="1" indent="-571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MARKET SIZE: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$20.31 Billion by 2030, reflecting a 25.1% CAGR.</a:t>
            </a:r>
          </a:p>
          <a:p>
            <a:pPr marL="1028700" marR="0" lvl="1" indent="-571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MONETIZATION: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Proven recurring-revenue models: Detection as a Service (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DaaS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), Hardware Kits (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CapEx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), and SaaS Dashboard (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OpEx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).</a:t>
            </a:r>
          </a:p>
          <a:p>
            <a:pPr marL="1028700" marR="0" lvl="1" indent="-571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SCALABILITY: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Highly scalable; adding new nodes on a fiber ring does not degrade network performance.</a:t>
            </a:r>
          </a:p>
        </p:txBody>
      </p:sp>
      <p:grpSp>
        <p:nvGrpSpPr>
          <p:cNvPr id="146" name="Google Shape;146;p6"/>
          <p:cNvGrpSpPr/>
          <p:nvPr/>
        </p:nvGrpSpPr>
        <p:grpSpPr>
          <a:xfrm>
            <a:off x="0" y="9486350"/>
            <a:ext cx="18288306" cy="800648"/>
            <a:chOff x="0" y="0"/>
            <a:chExt cx="25467631" cy="1067530"/>
          </a:xfrm>
        </p:grpSpPr>
        <p:sp>
          <p:nvSpPr>
            <p:cNvPr id="147" name="Google Shape;147;p6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</p:sp>
        <p:sp>
          <p:nvSpPr>
            <p:cNvPr id="148" name="Google Shape;148;p6"/>
            <p:cNvSpPr txBox="1"/>
            <p:nvPr/>
          </p:nvSpPr>
          <p:spPr>
            <a:xfrm>
              <a:off x="2701381" y="354383"/>
              <a:ext cx="208527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8" b="16480"/>
          <a:stretch/>
        </p:blipFill>
        <p:spPr>
          <a:xfrm>
            <a:off x="13405357" y="1871351"/>
            <a:ext cx="4026300" cy="26014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3474" y="1784865"/>
            <a:ext cx="1580594" cy="1580594"/>
          </a:xfrm>
          <a:prstGeom prst="rect">
            <a:avLst/>
          </a:prstGeom>
        </p:spPr>
      </p:pic>
      <p:sp>
        <p:nvSpPr>
          <p:cNvPr id="153" name="Google Shape;153;p7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19" b="-224"/>
            </a:stretch>
          </a:blipFill>
          <a:ln>
            <a:noFill/>
          </a:ln>
        </p:spPr>
      </p:sp>
      <p:sp>
        <p:nvSpPr>
          <p:cNvPr id="154" name="Google Shape;154;p7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t="-27208" b="-27208"/>
            </a:stretch>
          </a:blipFill>
          <a:ln>
            <a:noFill/>
          </a:ln>
        </p:spPr>
      </p:sp>
      <p:sp>
        <p:nvSpPr>
          <p:cNvPr id="155" name="Google Shape;155;p7"/>
          <p:cNvSpPr txBox="1"/>
          <p:nvPr/>
        </p:nvSpPr>
        <p:spPr>
          <a:xfrm>
            <a:off x="4568523" y="480853"/>
            <a:ext cx="9741927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RESULTS/FUTURE SCOPE</a:t>
            </a:r>
          </a:p>
        </p:txBody>
      </p:sp>
      <p:sp>
        <p:nvSpPr>
          <p:cNvPr id="156" name="Google Shape;156;p7"/>
          <p:cNvSpPr txBox="1"/>
          <p:nvPr/>
        </p:nvSpPr>
        <p:spPr>
          <a:xfrm>
            <a:off x="1560830" y="1831340"/>
            <a:ext cx="14977745" cy="465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600" b="0" i="0" u="sng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Roadmap &amp; Validation</a:t>
            </a:r>
          </a:p>
          <a:p>
            <a:pPr marL="742950" marR="0" lvl="0" indent="-742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GB" sz="36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RESULTS / VALIDATION:</a:t>
            </a:r>
          </a:p>
          <a:p>
            <a:pPr marL="1485900" marR="0" lvl="2" indent="-571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6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Validated dual-MCU architecture effectiveness.</a:t>
            </a:r>
          </a:p>
          <a:p>
            <a:pPr marL="1485900" marR="0" lvl="2" indent="-571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600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Successful integration of Acoustic and LIDAR data to eliminate false positives.</a:t>
            </a:r>
            <a:endParaRPr lang="en-US" altLang="en-GB" sz="36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  <a:p>
            <a:pPr marL="914400" marR="0" lvl="2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3600" b="0" i="0" u="none" strike="noStrike" cap="none" dirty="0">
              <a:solidFill>
                <a:srgbClr val="001864"/>
              </a:solidFill>
              <a:latin typeface="Times New Roman" panose="02020603050405020304" charset="0"/>
              <a:ea typeface="Inter" panose="02000503000000020004"/>
              <a:cs typeface="Times New Roman" panose="02020603050405020304" charset="0"/>
              <a:sym typeface="Inter" panose="02000503000000020004"/>
            </a:endParaRPr>
          </a:p>
        </p:txBody>
      </p:sp>
      <p:grpSp>
        <p:nvGrpSpPr>
          <p:cNvPr id="157" name="Google Shape;157;p7"/>
          <p:cNvGrpSpPr/>
          <p:nvPr/>
        </p:nvGrpSpPr>
        <p:grpSpPr>
          <a:xfrm>
            <a:off x="325" y="9486350"/>
            <a:ext cx="18288306" cy="800648"/>
            <a:chOff x="0" y="0"/>
            <a:chExt cx="25467631" cy="1067530"/>
          </a:xfrm>
        </p:grpSpPr>
        <p:sp>
          <p:nvSpPr>
            <p:cNvPr id="158" name="Google Shape;158;p7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>
              <a:noFill/>
            </a:ln>
          </p:spPr>
        </p:sp>
        <p:sp>
          <p:nvSpPr>
            <p:cNvPr id="159" name="Google Shape;159;p7"/>
            <p:cNvSpPr txBox="1"/>
            <p:nvPr/>
          </p:nvSpPr>
          <p:spPr>
            <a:xfrm>
              <a:off x="2701381" y="354383"/>
              <a:ext cx="208527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143545" y="180656"/>
            <a:ext cx="2644331" cy="848011"/>
          </a:xfrm>
          <a:custGeom>
            <a:avLst/>
            <a:gdLst/>
            <a:ahLst/>
            <a:cxnLst/>
            <a:rect l="l" t="t" r="r" b="b"/>
            <a:pathLst>
              <a:path w="3525774" h="1130681" extrusionOk="0">
                <a:moveTo>
                  <a:pt x="0" y="0"/>
                </a:moveTo>
                <a:lnTo>
                  <a:pt x="3525774" y="0"/>
                </a:lnTo>
                <a:lnTo>
                  <a:pt x="3525774" y="1130681"/>
                </a:lnTo>
                <a:lnTo>
                  <a:pt x="0" y="1130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219" b="-224"/>
            </a:stretch>
          </a:blipFill>
          <a:ln>
            <a:noFill/>
          </a:ln>
        </p:spPr>
      </p:sp>
      <p:sp>
        <p:nvSpPr>
          <p:cNvPr id="154" name="Google Shape;154;p7"/>
          <p:cNvSpPr/>
          <p:nvPr/>
        </p:nvSpPr>
        <p:spPr>
          <a:xfrm>
            <a:off x="16045412" y="0"/>
            <a:ext cx="2242566" cy="1028700"/>
          </a:xfrm>
          <a:custGeom>
            <a:avLst/>
            <a:gdLst/>
            <a:ahLst/>
            <a:cxnLst/>
            <a:rect l="l" t="t" r="r" b="b"/>
            <a:pathLst>
              <a:path w="2990088" h="1371600" extrusionOk="0">
                <a:moveTo>
                  <a:pt x="0" y="0"/>
                </a:moveTo>
                <a:lnTo>
                  <a:pt x="2990088" y="0"/>
                </a:lnTo>
                <a:lnTo>
                  <a:pt x="299008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t="-27208" b="-27208"/>
            </a:stretch>
          </a:blipFill>
          <a:ln>
            <a:noFill/>
          </a:ln>
        </p:spPr>
      </p:sp>
      <p:sp>
        <p:nvSpPr>
          <p:cNvPr id="155" name="Google Shape;155;p7"/>
          <p:cNvSpPr txBox="1"/>
          <p:nvPr/>
        </p:nvSpPr>
        <p:spPr>
          <a:xfrm>
            <a:off x="4568523" y="480853"/>
            <a:ext cx="9741927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RESULTS/FUTURE SCOPE</a:t>
            </a:r>
          </a:p>
        </p:txBody>
      </p:sp>
      <p:sp>
        <p:nvSpPr>
          <p:cNvPr id="156" name="Google Shape;156;p7"/>
          <p:cNvSpPr txBox="1"/>
          <p:nvPr/>
        </p:nvSpPr>
        <p:spPr>
          <a:xfrm>
            <a:off x="143546" y="2153376"/>
            <a:ext cx="17812314" cy="4998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600" b="0" i="0" u="sng" strike="noStrike" cap="none" dirty="0">
                <a:solidFill>
                  <a:srgbClr val="00186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Roadmap &amp; Validation</a:t>
            </a:r>
          </a:p>
          <a:p>
            <a:pPr marL="742950" marR="0" lvl="0" indent="-7429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altLang="en-GB" sz="36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FUTURE STEPS &amp; STRATEGIC RECOMMENDATIONS:</a:t>
            </a:r>
          </a:p>
          <a:p>
            <a:pPr marL="1485900" marR="0" lvl="2" indent="-571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INTEGRATE "SAFE CAPTURE" ACTUATORS: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Partner with net/entanglement drone systems (a legally viable hard-kill option).</a:t>
            </a:r>
          </a:p>
          <a:p>
            <a:pPr marL="1485900" marR="0" lvl="2" indent="-571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ARCHITECTURE PATENT: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File a provisional patent on the (Multi-modal node + fiber-optic backhaul + centralized fusion) architecture.</a:t>
            </a:r>
          </a:p>
          <a:p>
            <a:pPr marL="1485900" marR="0" lvl="2" indent="-5715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3200" b="1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PILOT TESTS:</a:t>
            </a:r>
            <a:r>
              <a:rPr lang="en-US" altLang="en-GB" sz="3200" b="0" i="0" u="none" strike="noStrike" cap="none" dirty="0" smtClean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 </a:t>
            </a:r>
            <a:r>
              <a:rPr lang="en-US" altLang="en-GB" sz="3200" b="0" i="0" u="none" strike="noStrike" cap="none" dirty="0">
                <a:solidFill>
                  <a:srgbClr val="001864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Field-test pilots at target high-EMI sites (e.g., power substations, refineries).</a:t>
            </a:r>
          </a:p>
        </p:txBody>
      </p:sp>
      <p:grpSp>
        <p:nvGrpSpPr>
          <p:cNvPr id="157" name="Google Shape;157;p7"/>
          <p:cNvGrpSpPr/>
          <p:nvPr/>
        </p:nvGrpSpPr>
        <p:grpSpPr>
          <a:xfrm>
            <a:off x="325" y="9486350"/>
            <a:ext cx="18288306" cy="800648"/>
            <a:chOff x="0" y="0"/>
            <a:chExt cx="25467631" cy="1067530"/>
          </a:xfrm>
        </p:grpSpPr>
        <p:sp>
          <p:nvSpPr>
            <p:cNvPr id="158" name="Google Shape;158;p7"/>
            <p:cNvSpPr/>
            <p:nvPr/>
          </p:nvSpPr>
          <p:spPr>
            <a:xfrm>
              <a:off x="0" y="0"/>
              <a:ext cx="25467631" cy="1067530"/>
            </a:xfrm>
            <a:custGeom>
              <a:avLst/>
              <a:gdLst/>
              <a:ahLst/>
              <a:cxnLst/>
              <a:rect l="l" t="t" r="r" b="b"/>
              <a:pathLst>
                <a:path w="25467631" h="1067530" extrusionOk="0">
                  <a:moveTo>
                    <a:pt x="0" y="0"/>
                  </a:moveTo>
                  <a:lnTo>
                    <a:pt x="25467631" y="0"/>
                  </a:lnTo>
                  <a:lnTo>
                    <a:pt x="25467631" y="1067530"/>
                  </a:lnTo>
                  <a:lnTo>
                    <a:pt x="0" y="106753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>
              <a:noFill/>
            </a:ln>
          </p:spPr>
        </p:sp>
        <p:sp>
          <p:nvSpPr>
            <p:cNvPr id="159" name="Google Shape;159;p7"/>
            <p:cNvSpPr txBox="1"/>
            <p:nvPr/>
          </p:nvSpPr>
          <p:spPr>
            <a:xfrm>
              <a:off x="2701381" y="354383"/>
              <a:ext cx="208527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0" u="none" strike="noStrike" cap="none" dirty="0">
                  <a:solidFill>
                    <a:srgbClr val="FFFFFF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TechnoCognition'25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582</Words>
  <Application>Microsoft Office PowerPoint</Application>
  <PresentationFormat>Custom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Inter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Huzaifa Afzal</dc:creator>
  <cp:lastModifiedBy>Huzaifa Afzal</cp:lastModifiedBy>
  <cp:revision>13</cp:revision>
  <dcterms:created xsi:type="dcterms:W3CDTF">2025-11-10T14:45:35Z</dcterms:created>
  <dcterms:modified xsi:type="dcterms:W3CDTF">2025-11-21T16:51:16Z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BE144D3D20E84E6B82EF1A346D143347_12</vt:lpwstr>
  </property>
  <property fmtid="{D5CDD505-2E9C-101B-9397-08002B2CF9AE}" pid="3" name="KSOProductBuildVer">
    <vt:lpwstr>2057-12.2.0.23149</vt:lpwstr>
  </property>
</Properties>
</file>